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340" r:id="rId5"/>
    <p:sldId id="341" r:id="rId6"/>
    <p:sldId id="343" r:id="rId7"/>
    <p:sldId id="356" r:id="rId8"/>
    <p:sldId id="34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0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E171933-4619-4E11-9A3F-F7608DF75F80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33" d="100"/>
        <a:sy n="33" d="100"/>
      </p:scale>
      <p:origin x="0" y="-1137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264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mohd ali" userId="fb24fba9b2f8064e" providerId="LiveId" clId="{9FE56019-D2C7-4321-9720-D68AFDDA258F}"/>
    <pc:docChg chg="delSld">
      <pc:chgData name="mrmohd ali" userId="fb24fba9b2f8064e" providerId="LiveId" clId="{9FE56019-D2C7-4321-9720-D68AFDDA258F}" dt="2026-10-19T04:15:38.481" v="9" actId="47"/>
      <pc:docMkLst>
        <pc:docMk/>
      </pc:docMkLst>
      <pc:sldChg chg="del">
        <pc:chgData name="mrmohd ali" userId="fb24fba9b2f8064e" providerId="LiveId" clId="{9FE56019-D2C7-4321-9720-D68AFDDA258F}" dt="2026-10-19T04:15:38.481" v="9" actId="47"/>
        <pc:sldMkLst>
          <pc:docMk/>
          <pc:sldMk cId="3937483142" sldId="344"/>
        </pc:sldMkLst>
      </pc:sldChg>
      <pc:sldChg chg="del">
        <pc:chgData name="mrmohd ali" userId="fb24fba9b2f8064e" providerId="LiveId" clId="{9FE56019-D2C7-4321-9720-D68AFDDA258F}" dt="2026-10-19T04:15:37.208" v="8" actId="47"/>
        <pc:sldMkLst>
          <pc:docMk/>
          <pc:sldMk cId="4104434737" sldId="346"/>
        </pc:sldMkLst>
      </pc:sldChg>
      <pc:sldChg chg="del">
        <pc:chgData name="mrmohd ali" userId="fb24fba9b2f8064e" providerId="LiveId" clId="{9FE56019-D2C7-4321-9720-D68AFDDA258F}" dt="2026-10-19T04:15:36.676" v="7" actId="47"/>
        <pc:sldMkLst>
          <pc:docMk/>
          <pc:sldMk cId="1014413726" sldId="347"/>
        </pc:sldMkLst>
      </pc:sldChg>
      <pc:sldChg chg="del">
        <pc:chgData name="mrmohd ali" userId="fb24fba9b2f8064e" providerId="LiveId" clId="{9FE56019-D2C7-4321-9720-D68AFDDA258F}" dt="2026-10-19T04:15:35.625" v="6" actId="47"/>
        <pc:sldMkLst>
          <pc:docMk/>
          <pc:sldMk cId="3117802180" sldId="348"/>
        </pc:sldMkLst>
      </pc:sldChg>
      <pc:sldChg chg="del">
        <pc:chgData name="mrmohd ali" userId="fb24fba9b2f8064e" providerId="LiveId" clId="{9FE56019-D2C7-4321-9720-D68AFDDA258F}" dt="2026-10-19T04:15:34.979" v="5" actId="47"/>
        <pc:sldMkLst>
          <pc:docMk/>
          <pc:sldMk cId="1722147624" sldId="350"/>
        </pc:sldMkLst>
      </pc:sldChg>
      <pc:sldChg chg="del">
        <pc:chgData name="mrmohd ali" userId="fb24fba9b2f8064e" providerId="LiveId" clId="{9FE56019-D2C7-4321-9720-D68AFDDA258F}" dt="2026-10-19T04:15:34.351" v="4" actId="47"/>
        <pc:sldMkLst>
          <pc:docMk/>
          <pc:sldMk cId="2610945053" sldId="351"/>
        </pc:sldMkLst>
      </pc:sldChg>
      <pc:sldChg chg="del">
        <pc:chgData name="mrmohd ali" userId="fb24fba9b2f8064e" providerId="LiveId" clId="{9FE56019-D2C7-4321-9720-D68AFDDA258F}" dt="2026-10-19T04:15:33.708" v="3" actId="47"/>
        <pc:sldMkLst>
          <pc:docMk/>
          <pc:sldMk cId="3000970981" sldId="352"/>
        </pc:sldMkLst>
      </pc:sldChg>
      <pc:sldChg chg="del">
        <pc:chgData name="mrmohd ali" userId="fb24fba9b2f8064e" providerId="LiveId" clId="{9FE56019-D2C7-4321-9720-D68AFDDA258F}" dt="2026-10-19T04:15:33.017" v="2" actId="47"/>
        <pc:sldMkLst>
          <pc:docMk/>
          <pc:sldMk cId="3802808557" sldId="353"/>
        </pc:sldMkLst>
      </pc:sldChg>
      <pc:sldChg chg="del">
        <pc:chgData name="mrmohd ali" userId="fb24fba9b2f8064e" providerId="LiveId" clId="{9FE56019-D2C7-4321-9720-D68AFDDA258F}" dt="2026-10-19T04:15:32.306" v="1" actId="47"/>
        <pc:sldMkLst>
          <pc:docMk/>
          <pc:sldMk cId="3119354052" sldId="354"/>
        </pc:sldMkLst>
      </pc:sldChg>
      <pc:sldChg chg="del">
        <pc:chgData name="mrmohd ali" userId="fb24fba9b2f8064e" providerId="LiveId" clId="{9FE56019-D2C7-4321-9720-D68AFDDA258F}" dt="2026-10-19T04:15:31.280" v="0" actId="2696"/>
        <pc:sldMkLst>
          <pc:docMk/>
          <pc:sldMk cId="3663657925" sldId="35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82B951-AFFF-3499-FDE3-02A7F0BD15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5896A-FCE2-110F-B202-A8E435372D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69F83-204D-4778-AAD0-A0F851A3AEEE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BFBA0-47AD-543A-6AE4-769D8F865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FC355-FEF6-ED8F-8D0E-F362E204A0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69D59-B021-49CB-887D-52B8FEE1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69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E3C21-C3CB-4B8D-9033-56C1B3CE75FA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32C3C-A191-48C2-A7E8-9C96AF841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39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04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480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93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DF4D8-10F0-E041-7866-A18D70366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E311C3-EEFD-EA73-9DD5-E63BCFBF2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B8A492-E3C4-137C-7EFC-4E9DEC667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7F94D-941A-5FB2-E9D7-248B4B40F8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718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399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BECDFC6B-0742-962E-44A1-19C9C173B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0848" y="425303"/>
            <a:ext cx="11305217" cy="6007394"/>
          </a:xfrm>
          <a:prstGeom prst="rect">
            <a:avLst/>
          </a:prstGeom>
          <a:effectLst/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33046"/>
            <a:ext cx="10571998" cy="3366198"/>
          </a:xfrm>
          <a:ln>
            <a:noFill/>
          </a:ln>
          <a:effectLst/>
        </p:spPr>
        <p:txBody>
          <a:bodyPr/>
          <a:lstStyle>
            <a:lvl1pPr algn="ctr">
              <a:defRPr sz="7200" b="1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3698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ADBC817-DA57-A518-5544-0D3B819C7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73FFF3-C7B6-C678-1B03-17FBD0D5A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6174" y="425303"/>
            <a:ext cx="5379242" cy="59834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217" y="924167"/>
            <a:ext cx="4383156" cy="5009322"/>
          </a:xfrm>
          <a:solidFill>
            <a:schemeClr val="accent1">
              <a:lumMod val="50000"/>
            </a:schemeClr>
          </a:solidFill>
          <a:effectLst>
            <a:outerShdw blurRad="254000" dist="50800" dir="2700000" algn="ctr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924512"/>
            <a:ext cx="4750904" cy="5008977"/>
          </a:xfrm>
        </p:spPr>
        <p:txBody>
          <a:bodyPr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543050" indent="-171450">
              <a:buFont typeface="Arial" panose="020B0604020202020204" pitchFamily="34" charset="0"/>
              <a:buChar char="•"/>
              <a:defRPr/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05E210-05B5-5EA1-C778-30BB3A49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9987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792193-1165-3487-6FB9-133CB518C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0924" y="-2235006"/>
            <a:ext cx="6010147" cy="1132013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1741064"/>
            <a:ext cx="10571998" cy="1928264"/>
          </a:xfrm>
          <a:ln>
            <a:noFill/>
          </a:ln>
          <a:effectLst/>
        </p:spPr>
        <p:txBody>
          <a:bodyPr/>
          <a:lstStyle>
            <a:lvl1pPr algn="ctr">
              <a:defRPr sz="3600" spc="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0000" y="3694102"/>
            <a:ext cx="10572000" cy="896468"/>
          </a:xfrm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8000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905615-9FD2-EBB3-89AB-555B373EB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23955" y="414670"/>
            <a:ext cx="7132110" cy="60180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638DB-3E00-7F4B-D4B7-9D7F09056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0459" y="420624"/>
            <a:ext cx="4183496" cy="60167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EED07-CDD5-9244-28FA-5195E6795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35934" y="422551"/>
            <a:ext cx="4183495" cy="60101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717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B5AB4E8D-8B32-8B00-8152-856C592BAB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46793" y="924340"/>
            <a:ext cx="5684373" cy="5009322"/>
          </a:xfrm>
          <a:effectLst/>
        </p:spPr>
        <p:txBody>
          <a:bodyPr lIns="0" rIns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1pPr>
            <a:lvl2pPr marL="4572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2pPr>
            <a:lvl3pPr marL="9144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3pPr>
            <a:lvl4pPr marL="13716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4pPr>
            <a:lvl5pPr marL="18288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769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4A700F-42CA-D7A9-D709-C0017521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rgbClr val="F9E0B9"/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1DA139-D8FD-A752-758D-4F836DFB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rot="16200000" flipH="1">
            <a:off x="210940" y="1589892"/>
            <a:ext cx="5245922" cy="366758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5516" y="1433219"/>
            <a:ext cx="5695102" cy="2092049"/>
          </a:xfrm>
          <a:noFill/>
          <a:effectLst/>
        </p:spPr>
        <p:txBody>
          <a:bodyPr anchor="b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96F37D4-7152-EA75-8D7D-D8F7D6DD9C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50099" y="1974707"/>
            <a:ext cx="2907792" cy="2907792"/>
          </a:xfrm>
          <a:solidFill>
            <a:srgbClr val="F9E0B9"/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FBE5B12-0D10-DA99-093A-2C4FB738B21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96789" y="3525268"/>
            <a:ext cx="5683829" cy="2595429"/>
          </a:xfrm>
          <a:effectLst/>
        </p:spPr>
        <p:txBody>
          <a:bodyPr anchor="t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  <a:lvl2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995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633845"/>
            <a:ext cx="3990110" cy="219248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5614EF-4CFA-2D69-0F78-9D7409E2337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7423" y="3174531"/>
            <a:ext cx="3772622" cy="3122360"/>
          </a:xfrm>
          <a:effectLst/>
        </p:spPr>
        <p:txBody>
          <a:bodyPr rIns="274320" anchor="t"/>
          <a:lstStyle>
            <a:lvl1pPr marL="283464" indent="-28346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237732" y="946205"/>
            <a:ext cx="5971020" cy="5161655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64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3E625C-F0A4-564D-CEE2-6B3595CEB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61889" y="0"/>
            <a:ext cx="623011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445" y="157637"/>
            <a:ext cx="4851694" cy="2190705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D8C78-00C3-F3D7-17C3-F1667E463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422551"/>
            <a:ext cx="5124893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3E61FD-F54A-5F86-FCED-3BD4C8AA4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flipH="1">
            <a:off x="659106" y="3429000"/>
            <a:ext cx="4589830" cy="27804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F0290F-2D31-F9FB-AD35-B76947AF1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6863" y="776532"/>
            <a:ext cx="3434316" cy="501821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347A5B6-0F99-C044-C209-F3190EEFA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36663" y="776288"/>
            <a:ext cx="3433762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92615" y="2505979"/>
            <a:ext cx="4837385" cy="3926717"/>
          </a:xfrm>
          <a:effectLst/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668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4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6DB3CB-355C-968A-7F5F-71E03504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0"/>
            <a:ext cx="12192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153836" y="1371602"/>
            <a:ext cx="6177309" cy="1953489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87279F-936E-0F41-B533-7990D668D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3836" y="3446156"/>
            <a:ext cx="6177309" cy="0"/>
          </a:xfrm>
          <a:prstGeom prst="line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DD03AA1-6D53-FEB1-9B22-57C1066DA33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53836" y="3745924"/>
            <a:ext cx="6177309" cy="2238918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937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85800"/>
            <a:ext cx="10571998" cy="2983528"/>
          </a:xfrm>
          <a:effectLst/>
        </p:spPr>
        <p:txBody>
          <a:bodyPr/>
          <a:lstStyle>
            <a:lvl1pPr algn="ctr">
              <a:defRPr sz="3600" spc="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340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2B799F-04B8-4A62-EB7D-F17311231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56500" y="0"/>
            <a:ext cx="46355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310BE-5861-E73D-5979-D11A97151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270" y="487680"/>
            <a:ext cx="6482080" cy="590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12F5E6-EC22-5E10-94FB-5E546A7B9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95630" y="477518"/>
            <a:ext cx="6482079" cy="591312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6952" y="477518"/>
            <a:ext cx="3829465" cy="2693887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4BBA88A-FAA8-CE13-2A76-BF8B014AE34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952500" y="909638"/>
            <a:ext cx="5578475" cy="5038725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36953" y="3449781"/>
            <a:ext cx="3829465" cy="2940860"/>
          </a:xfrm>
          <a:effectLst/>
        </p:spPr>
        <p:txBody>
          <a:bodyPr anchor="t"/>
          <a:lstStyle>
            <a:lvl1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81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73" y="571501"/>
            <a:ext cx="11139054" cy="1028699"/>
          </a:xfrm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E10735F5-6B7D-348D-AC70-8BC10CB5F70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60550"/>
            <a:ext cx="10515600" cy="4198938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34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FDAFCA1-BDD9-1108-8F95-E3FC1A793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0"/>
            <a:ext cx="11532896" cy="6858000"/>
            <a:chOff x="659106" y="0"/>
            <a:chExt cx="11532896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BFDB24-6BE4-2FC0-F772-DC1DE926E485}"/>
                </a:ext>
              </a:extLst>
            </p:cNvPr>
            <p:cNvSpPr/>
            <p:nvPr/>
          </p:nvSpPr>
          <p:spPr>
            <a:xfrm>
              <a:off x="5995086" y="0"/>
              <a:ext cx="6196916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254000" dist="508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31EABEA-AB8A-5E4C-A6DD-8F32B70E90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-1353" t="-388" r="-1" b="-254"/>
            <a:stretch/>
          </p:blipFill>
          <p:spPr>
            <a:xfrm flipH="1">
              <a:off x="659106" y="1956391"/>
              <a:ext cx="4878094" cy="278041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279AAC-0D81-D3CD-3F0F-E8CEE0F56D43}"/>
                </a:ext>
              </a:extLst>
            </p:cNvPr>
            <p:cNvSpPr/>
            <p:nvPr/>
          </p:nvSpPr>
          <p:spPr>
            <a:xfrm>
              <a:off x="1328303" y="776532"/>
              <a:ext cx="3434316" cy="501821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542" y="132080"/>
            <a:ext cx="4928894" cy="6507711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720B2D-C199-57FA-9453-DBFB607BA9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00" y="992188"/>
            <a:ext cx="3425825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858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11222B-29F6-BF2A-09DE-82F659638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35F993-EADB-1C5A-7158-41E510B70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12E34E-DBAF-BA5D-15D9-E69A05535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1889759"/>
            <a:ext cx="11424920" cy="45429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571499"/>
            <a:ext cx="11118274" cy="1154114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BF6A552-CE6A-3977-8507-74A1C4C4B5A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41667" y="2461056"/>
            <a:ext cx="3626424" cy="3721535"/>
          </a:xfrm>
          <a:effectLst/>
        </p:spPr>
        <p:txBody>
          <a:bodyPr anchor="t">
            <a:normAutofit/>
          </a:bodyPr>
          <a:lstStyle>
            <a:lvl1pPr marL="285750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400"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4C80689F-A123-F6D7-2AA8-9166317EF42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95282" y="2440275"/>
            <a:ext cx="5164553" cy="3721534"/>
          </a:xfrm>
          <a:effectLst/>
        </p:spPr>
        <p:txBody>
          <a:bodyPr anchor="t">
            <a:norm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  <a:defRPr sz="1800" b="1">
                <a:solidFill>
                  <a:schemeClr val="accent1">
                    <a:lumMod val="50000"/>
                  </a:schemeClr>
                </a:solidFill>
              </a:defRPr>
            </a:lvl1pPr>
            <a:lvl2pPr marL="34747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8202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F4DCF8-BA15-AB79-2D14-040F5A063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22DD7-291D-E347-8A4C-07E31E681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2299" y="-2231063"/>
            <a:ext cx="6007395" cy="1132012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660" y="1017858"/>
            <a:ext cx="10650681" cy="2719255"/>
          </a:xfrm>
          <a:noFill/>
          <a:effectLst/>
        </p:spPr>
        <p:txBody>
          <a:bodyPr anchor="b"/>
          <a:lstStyle>
            <a:lvl1pPr algn="ctr">
              <a:defRPr sz="7200" spc="-30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660" y="4042066"/>
            <a:ext cx="10650681" cy="2296843"/>
          </a:xfrm>
          <a:effectLst/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250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6F7BD38-A805-4B2C-9BDF-D56E94387879}" type="datetime1">
              <a:rPr lang="en-US" smtClean="0"/>
              <a:t>10/19/2026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68" r:id="rId2"/>
    <p:sldLayoutId id="2147483669" r:id="rId3"/>
    <p:sldLayoutId id="2147483684" r:id="rId4"/>
    <p:sldLayoutId id="2147483672" r:id="rId5"/>
    <p:sldLayoutId id="2147483687" r:id="rId6"/>
    <p:sldLayoutId id="2147483671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85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 baseline="0">
          <a:ln>
            <a:noFill/>
          </a:ln>
          <a:solidFill>
            <a:srgbClr val="FEFEFE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62A4-2E4B-23FB-9F8B-D54C0F90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633046"/>
            <a:ext cx="10571998" cy="3366198"/>
          </a:xfrm>
        </p:spPr>
        <p:txBody>
          <a:bodyPr/>
          <a:lstStyle/>
          <a:p>
            <a:pPr lvl="0"/>
            <a:r>
              <a:rPr lang="en-US" noProof="0" dirty="0"/>
              <a:t>How AI Coding Assistants Are Changing Software Development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A4BD91-1EE0-B3BB-22BE-E37AEDD945C0}"/>
              </a:ext>
            </a:extLst>
          </p:cNvPr>
          <p:cNvSpPr txBox="1"/>
          <p:nvPr/>
        </p:nvSpPr>
        <p:spPr>
          <a:xfrm>
            <a:off x="1022555" y="4346052"/>
            <a:ext cx="70583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b="1" dirty="0"/>
              <a:t>CEP146 Project Presentation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F5D983-C4A5-FA38-D8B6-DE77235EAAA9}"/>
              </a:ext>
            </a:extLst>
          </p:cNvPr>
          <p:cNvSpPr txBox="1"/>
          <p:nvPr/>
        </p:nvSpPr>
        <p:spPr>
          <a:xfrm>
            <a:off x="1022555" y="5578623"/>
            <a:ext cx="25138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Mohamed Ali </a:t>
            </a:r>
            <a:br>
              <a:rPr lang="en-CA" dirty="0"/>
            </a:br>
            <a:r>
              <a:rPr lang="en-CA" dirty="0"/>
              <a:t>Sheharyar Humayun</a:t>
            </a:r>
          </a:p>
        </p:txBody>
      </p:sp>
    </p:spTree>
    <p:extLst>
      <p:ext uri="{BB962C8B-B14F-4D97-AF65-F5344CB8AC3E}">
        <p14:creationId xmlns:p14="http://schemas.microsoft.com/office/powerpoint/2010/main" val="431835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7740-ED88-9F6A-89FF-4B0DFAAC3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217" y="924167"/>
            <a:ext cx="4383156" cy="5009322"/>
          </a:xfrm>
        </p:spPr>
        <p:txBody>
          <a:bodyPr/>
          <a:lstStyle/>
          <a:p>
            <a:r>
              <a:rPr lang="en-US" dirty="0"/>
              <a:t>What Are AI Coding Assistants?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25282-EE8D-71BA-6317-EECFE33238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924512"/>
            <a:ext cx="4750904" cy="5008977"/>
          </a:xfrm>
        </p:spPr>
        <p:txBody>
          <a:bodyPr>
            <a:norm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 sz="2800" dirty="0"/>
              <a:t>AI tools that help developers write and understand code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 sz="2800" dirty="0"/>
              <a:t>Can suggest code, explain functions, and help with debugging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 sz="2800" dirty="0"/>
              <a:t>Examples: GitHub Copilot, ChatGPT, Amazon CodeWhisperer</a:t>
            </a:r>
          </a:p>
        </p:txBody>
      </p:sp>
    </p:spTree>
    <p:extLst>
      <p:ext uri="{BB962C8B-B14F-4D97-AF65-F5344CB8AC3E}">
        <p14:creationId xmlns:p14="http://schemas.microsoft.com/office/powerpoint/2010/main" val="909924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CDD0-17F6-3312-AE6D-F7EB95E4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CA" dirty="0"/>
              <a:t>Benefits for Developers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36AA5-9DDA-DA9A-5469-6885A5A84D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46793" y="924340"/>
            <a:ext cx="5684373" cy="5009322"/>
          </a:xfrm>
        </p:spPr>
        <p:txBody>
          <a:bodyPr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sz="2800" dirty="0"/>
              <a:t>Speeds up repetitive coding tasks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sz="2800" dirty="0"/>
              <a:t>Helps explain unfamiliar code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CA" sz="2800" dirty="0"/>
              <a:t>Can generate tests and documentation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C0D7D3D-B658-B606-88AA-1FBA92636927}"/>
              </a:ext>
            </a:extLst>
          </p:cNvPr>
          <p:cNvSpPr txBox="1">
            <a:spLocks/>
          </p:cNvSpPr>
          <p:nvPr/>
        </p:nvSpPr>
        <p:spPr>
          <a:xfrm>
            <a:off x="1160834" y="3790443"/>
            <a:ext cx="2978547" cy="1558305"/>
          </a:xfrm>
          <a:prstGeom prst="rect">
            <a:avLst/>
          </a:prstGeom>
          <a:effectLst/>
        </p:spPr>
        <p:txBody>
          <a:bodyPr vert="horz" lIns="0" tIns="45720" rIns="0" bIns="45720" rtlCol="0" anchor="ctr">
            <a:normAutofit fontScale="77500" lnSpcReduction="20000"/>
          </a:bodyPr>
          <a:lstStyle>
            <a:lvl1pPr marL="0" indent="0" algn="l" defTabSz="4572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8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6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4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2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2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CA" sz="2800" dirty="0">
                <a:solidFill>
                  <a:schemeClr val="tx1"/>
                </a:solidFill>
                <a:latin typeface="Courier New" panose="02070309020205020404" pitchFamily="49" charset="0"/>
              </a:rPr>
              <a:t>How can AI improve developer productivity?</a:t>
            </a:r>
            <a:endParaRPr lang="en-CA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9076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15481-5485-787B-AC00-D68033245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AD257-67A9-A081-D0B3-C7A6E0B4E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217" y="924167"/>
            <a:ext cx="4383156" cy="5009322"/>
          </a:xfrm>
        </p:spPr>
        <p:txBody>
          <a:bodyPr/>
          <a:lstStyle/>
          <a:p>
            <a:r>
              <a:rPr lang="en-CA" dirty="0"/>
              <a:t>Risks and 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27351-E50E-DA9A-46DD-6739220569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924512"/>
            <a:ext cx="4750904" cy="5008977"/>
          </a:xfrm>
        </p:spPr>
        <p:txBody>
          <a:bodyPr>
            <a:norm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CA" sz="2800" dirty="0"/>
              <a:t>AI can generate incorrect code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CA" sz="2800" dirty="0"/>
              <a:t>Security and privacy concerns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CA" sz="2800" dirty="0"/>
              <a:t>Over-reliance on AI tools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CA" sz="2800" dirty="0"/>
              <a:t>Ethical and copyright concerns</a:t>
            </a:r>
          </a:p>
        </p:txBody>
      </p:sp>
    </p:spTree>
    <p:extLst>
      <p:ext uri="{BB962C8B-B14F-4D97-AF65-F5344CB8AC3E}">
        <p14:creationId xmlns:p14="http://schemas.microsoft.com/office/powerpoint/2010/main" val="4293673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CF8F5-609D-E31E-6659-2E3CE6309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737420"/>
            <a:ext cx="10571998" cy="631160"/>
          </a:xfrm>
        </p:spPr>
        <p:txBody>
          <a:bodyPr/>
          <a:lstStyle/>
          <a:p>
            <a:pPr lvl="0"/>
            <a:r>
              <a:rPr lang="en-CA" dirty="0"/>
              <a:t>Conclusion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16AEF-ABBB-D2DD-A297-5819AEB9A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2921" y="1368580"/>
            <a:ext cx="9966155" cy="2810130"/>
          </a:xfrm>
        </p:spPr>
        <p:txBody>
          <a:bodyPr>
            <a:norm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CA" sz="2400" dirty="0"/>
              <a:t>AI coding assistants can improve developer productivity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CA" sz="2400" dirty="0"/>
              <a:t>They are useful, but their output must be reviewed carefully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CA" sz="2400" dirty="0"/>
              <a:t>The best results come from combining AI assistance with human judgment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AB3384-583C-BB8B-8C72-0ED54ED0CA26}"/>
              </a:ext>
            </a:extLst>
          </p:cNvPr>
          <p:cNvSpPr txBox="1"/>
          <p:nvPr/>
        </p:nvSpPr>
        <p:spPr>
          <a:xfrm>
            <a:off x="9326531" y="5597360"/>
            <a:ext cx="1752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Monotype Corsiva" panose="03010101010201010101" pitchFamily="66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739363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381587_Win32_SL_v6" id="{5005B820-A0B7-49EA-8569-DCF0CD2DBB9D}" vid="{2E48C80D-E25D-44C4-BCFD-F1465E9B61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9F0C84-2C14-4FB8-88C2-9577181F2CC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ACCF44-01D5-4C40-9EAC-D3C3683409F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72B3831-C4F2-498C-8E5F-F8D6F90548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{ABD162D2-7D00-4F95-A3AC-B93D654ABDBD}TF4e23ad37-c1a6-42e6-a6ec-6518d97eca9ec3cad5d6_win32-e4fb00466b0d</Template>
  <TotalTime>29</TotalTime>
  <Words>132</Words>
  <Application>Microsoft Office PowerPoint</Application>
  <PresentationFormat>Widescreen</PresentationFormat>
  <Paragraphs>27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Aptos</vt:lpstr>
      <vt:lpstr>Arial</vt:lpstr>
      <vt:lpstr>Calibri</vt:lpstr>
      <vt:lpstr>Century Gothic</vt:lpstr>
      <vt:lpstr>Courier New</vt:lpstr>
      <vt:lpstr>Monotype Corsiva</vt:lpstr>
      <vt:lpstr>Wingdings 2</vt:lpstr>
      <vt:lpstr>Quotable</vt:lpstr>
      <vt:lpstr>How AI Coding Assistants Are Changing Software Development</vt:lpstr>
      <vt:lpstr>What Are AI Coding Assistants?</vt:lpstr>
      <vt:lpstr>Benefits for Developers</vt:lpstr>
      <vt:lpstr>Risks and Limitations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Ali</dc:creator>
  <cp:lastModifiedBy>mrmohd ali</cp:lastModifiedBy>
  <cp:revision>1</cp:revision>
  <dcterms:created xsi:type="dcterms:W3CDTF">2026-10-19T03:31:38Z</dcterms:created>
  <dcterms:modified xsi:type="dcterms:W3CDTF">2026-10-19T04:15:40Z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